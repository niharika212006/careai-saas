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3108960" cy="45720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FINAL YEAR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Segoe UI"/>
              </a:defRPr>
            </a:pPr>
            <a:r>
              <a:t>CareAI</a:t>
            </a:r>
          </a:p>
          <a:p>
            <a:pPr>
              <a:spcBef>
                <a:spcPts val="800"/>
              </a:spcBef>
              <a:defRPr sz="2200">
                <a:solidFill>
                  <a:srgbClr val="0284C7"/>
                </a:solidFill>
                <a:latin typeface="Segoe UI"/>
              </a:defRPr>
            </a:pPr>
            <a:r>
              <a:t>AI-Powered Healthcare Management SaaS Platform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A Multi-Role, End-to-End Clinical Lifecycle Architecture with Role-Based Access Control &amp; Gemini AI Clinical Safety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48463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✔ 5 Core User Roles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Patient, Doctor, Admin, Lab Technician, Pharmacy Staff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48463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✔ 165/165 Automated Tests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Comprehensive Pytest Backend Coverage with 100% Pass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120640"/>
            <a:ext cx="48463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✔ Dual Cloud Deployment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Vercel (React Frontend) + Render (FastAPI + Managed PostgreSQL)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120640"/>
            <a:ext cx="48463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✔ Google Gemini AI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Safety Triage, Interaction Analysis &amp; Graceful Fallback (HTTP 503)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SYSTEM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Executive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02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4846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❖  Centralized Clinical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Unifies isolated hospital departments into a single reactive platform, eliminating paper trails, physical handoffs, and disjointed records across care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4846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F46E5"/>
                </a:solidFill>
                <a:latin typeface="Segoe UI"/>
              </a:defRPr>
            </a:pPr>
            <a:r>
              <a:t>❖  5-Role Healthcare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Provides tailor-made dashboards, permission guards, and dedicated operational tools for Patients, Doctors, Administrators, Lab Technicians, and Pharmacy Staff.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4846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❖  End-to-End Care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Manages the entire patient journey: appointment booking, doctor consultations, digital prescriptions, lab sample chain-of-custody, and pharmacy dispensation.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4023360"/>
            <a:ext cx="4846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9333EA"/>
                </a:solidFill>
                <a:latin typeface="Segoe UI"/>
              </a:defRPr>
            </a:pPr>
            <a:r>
              <a:t>❖  Responsible AI Assistance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26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Integrates Google Gemini 1.5 Flash for drug-drug interaction screening, medical document analysis, and health explanations with deterministic safety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CLINICAL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Clinical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03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673352"/>
            <a:ext cx="365760" cy="6766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618488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Challenge 1: Fragmented Medical Workflows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Hospital departments (OPD, Diagnostic Lab, Pharmacy) operate on disparate systems or manual paper logs, causing lost records and administrative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816352"/>
            <a:ext cx="365760" cy="6766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761488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Challenge 2: Diagnostic Custody Gaps &amp; Delay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Diagnostic lab requisitions lack real-time chain-of-custody tracking. Critical/panic values often fail to alert prescribing physicians immediately, endangering patients.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959352"/>
            <a:ext cx="365760" cy="6766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904488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Challenge 3: Prescription Fulfillment Inefficiencies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Paper and unverified prescriptions lead to medication transcription errors, lack of drug-drug interaction checks, and zero visibility into pharmacy dispensing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5102352"/>
            <a:ext cx="365760" cy="6766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047488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Challenge 4: Absence of Patient-Centric Portals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Patients struggle to access structured medical histories, verified diagnostic test results, active medication schedules, or accessible evidence-based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PLATFORM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Solution: The CareAI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04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56032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1. Patient Portal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Registration, doctor search, appointment booking &amp; report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0876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508760"/>
            <a:ext cx="25603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91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  <a:latin typeface="Segoe UI"/>
              </a:defRPr>
            </a:pPr>
            <a:r>
              <a:t>2. Doctor Workspace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Consultation queue, digital Rx drafting, AI drug safety &amp; lab 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0876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508760"/>
            <a:ext cx="256032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691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33EA"/>
                </a:solidFill>
                <a:latin typeface="Segoe UI"/>
              </a:defRPr>
            </a:pPr>
            <a:r>
              <a:t>3. Lab Lifecycle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Sample collection, analytical testing, panic alerts &amp; verification.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50876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50876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1691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4. Pharmacy Hub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Prescription review, packaging status &amp; secure dispensation.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83280"/>
            <a:ext cx="10728655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6616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Key Architectural Value Propositions of CareAI: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Single Source of Truth: All appointments, prescriptions, diagnostic results, and medical records stored in unified relational schema.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Strict Role-Based Access Control: 5 distinct roles with hard isolation; Admins barred from viewing private patient medical documents (PHI barrier).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Embedded Clinical AI Safety: Multi-drug interaction analysis, symptom triage with emergency warnings, and graceful offline fallback.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Production Cloud Readiness: Decoupled React Single Page Application on Vercel backed by FastAPI &amp; PostgreSQL on Render.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TARGET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Objectives &amp; Technical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05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1. Multi-Role Healthcare Digitization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Build a responsive, modern web application supporting 5 distinct user roles (Patient, Doctor, Admin, Lab Tech, Pharmacy Staff) with dedicated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2. End-to-End Clinical Lifecycle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Implement seamless transitions between appointments, consultations, electronic prescription issuance, laboratory testing, and pharmacy dispensation.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39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399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3. Diagnostic Custody &amp; Panic Alerting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Design a 6-stage laboratory state machine tracking specimens from collection to release, with automated critical panic value detection and doctor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39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00399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4. Pharmacy Dispensary Workflow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Enable pharmacists to review prescriptions, track packaging progress, and confirm dispensation without modifying physician medical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5. Guardrailed AI Clinical Assistance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Integrate Google Gemini 1.5 Flash for drug safety and patient inquiries, fortified with emergency symptom triage and HTTP 503 fallback.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617720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6. Enterprise Security &amp; Automated Testing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Implement Bcrypt password hashing, JWT stateless authentication, Alembic database migrations, and 165+ passing automated Pytest test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ROLE-BASED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Actors &amp; 5-Role Access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06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066543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066543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PATIENT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Primary Consumer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18470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Search verified doctor directory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Book &amp; manage consultation slots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Access active digital prescriptions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View released diagnostic lab reports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Interact with CareAI Health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508760"/>
            <a:ext cx="2066543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1" y="1508760"/>
            <a:ext cx="2066543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DOCTOR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Clinical 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19" y="2331720"/>
            <a:ext cx="18470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Configure weekly availability schedule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Manage patient consultation queue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Draft multi-drug digital prescriptions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Execute AI drug-drug safety checks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Order STAT &amp; routine diagnostic panels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508760"/>
            <a:ext cx="2066543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508760"/>
            <a:ext cx="2066543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ADMIN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Governance &amp; Vetting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331720"/>
            <a:ext cx="18470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Review &amp; approve doctor credentials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Provision Lab Tech &amp; Pharmacy staff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Maintain standardized test catalog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Monitor platform usage &amp; stats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Blocked from patient PHI docs (Privacy)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508760"/>
            <a:ext cx="2066543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0336" y="1508760"/>
            <a:ext cx="2066543" cy="7315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LAB TECHNICIAN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Diagnostic Specialist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2331720"/>
            <a:ext cx="18470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Accession diagnostic requisition queue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Collect &amp; verify specimen integrity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Enter quantitative analyte test values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Flag critical/panic threshold values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Verify &amp; release official diagnostic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508760"/>
            <a:ext cx="2066543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36608" y="1508760"/>
            <a:ext cx="2066543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PHARMACY STAFF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Dispensary Pharmacist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6336" y="2331720"/>
            <a:ext cx="18470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Review incoming physician prescriptions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Inspect dosage &amp; drug safety summaries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Advance order: Under Review → Ready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Confirm dispensation &amp; notify patient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Protected: Cannot alter prescription orders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High-Level 3-Tier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07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82880" cy="1417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Tier 1: Presentation Layer (Client)</a:t>
            </a:r>
          </a:p>
          <a:p>
            <a:pPr>
              <a:spcBef>
                <a:spcPts val="200"/>
              </a:spcBef>
              <a:defRPr sz="950" b="1">
                <a:solidFill>
                  <a:srgbClr val="0284C7"/>
                </a:solidFill>
                <a:latin typeface="Segoe UI"/>
              </a:defRPr>
            </a:pPr>
            <a:r>
              <a:t>Stack: React 18/19 SPA  •  Vite 5.4  •  React Router  •  Custom Glassmorphic CSS  •  Lucide Icons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Component-Driven UI with scoped sub-second HMR   |   • Role-Based Client Route Guards (&lt;ProtectedRoute&gt;)   |   • Global AuthContext with automatic JWT handling   |   • Responsive interfaces across Desktop and Mobile viewports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39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63239"/>
            <a:ext cx="18288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54679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Tier 2: Application &amp; Gateway Layer (FastAPI)</a:t>
            </a:r>
          </a:p>
          <a:p>
            <a:pPr>
              <a:spcBef>
                <a:spcPts val="200"/>
              </a:spcBef>
              <a:defRPr sz="950" b="1">
                <a:solidFill>
                  <a:srgbClr val="4F46E5"/>
                </a:solidFill>
                <a:latin typeface="Segoe UI"/>
              </a:defRPr>
            </a:pPr>
            <a:r>
              <a:t>Stack: Python 3.12  •  FastAPI ASGI  •  Pydantic v2  •  OAuth2 / JWT  •  Passlib (Bcrypt)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Asynchronous high-throughput REST API controllers   |   • Strict Dependency Injection for DB sessions &amp; RBAC roles   |   • Domain Service Layer encapsulating transaction boundaries   |   • Standardized OpenAPI 3.0 auto-generated 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617720"/>
            <a:ext cx="18288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Tier 3: Persistence &amp; External AI Layer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Stack: PostgreSQL  •  SQLAlchemy 2.0 ORM  •  Alembic Migrations  •  Google Gemini 1.5 Flash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Relational persistence with ACID guarantees &amp; foreign keys   |   • Alembic code-versioned database migrations to HEAD   |   • Abstracted AI Service Layer with symptom triage filtering   |   • HTTP 503 graceful degradation when AI service is offline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TECHNOLOGY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Technology Stack &amp; Technical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08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422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69A1"/>
                </a:solidFill>
                <a:latin typeface="Segoe UI"/>
              </a:defRPr>
            </a:pPr>
            <a:r>
              <a:t>✔  Frontend: React + Vite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Component reusability, declarative state, and instant development HMR with Rollup production tree-shaking.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1848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69A1"/>
                </a:solidFill>
                <a:latin typeface="Segoe UI"/>
              </a:defRPr>
            </a:pPr>
            <a:r>
              <a:t>✔  Backend: FastAPI + Python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High-performance asynchronous execution (ASGI), automatic OpenAPI schemas, and seamless Pydantic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79191"/>
            <a:ext cx="52422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19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69A1"/>
                </a:solidFill>
                <a:latin typeface="Segoe UI"/>
              </a:defRPr>
            </a:pPr>
            <a:r>
              <a:t>✔  ORM: SQLAlchemy 2.0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Enterprise query builder supporting explicit relationship modeling, eager/lazy loading, and database dialect portability.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79191"/>
            <a:ext cx="52422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19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69A1"/>
                </a:solidFill>
                <a:latin typeface="Segoe UI"/>
              </a:defRPr>
            </a:pPr>
            <a:r>
              <a:t>✔  Migrations: Alembic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Deterministic, code-managed schema versioning allowing reproducible database upgrades across local, staging, and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9624"/>
            <a:ext cx="52422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5935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69A1"/>
                </a:solidFill>
                <a:latin typeface="Segoe UI"/>
              </a:defRPr>
            </a:pPr>
            <a:r>
              <a:t>✔  Database: PostgreSQL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ACID-compliant relational persistence, check constraints, foreign keys, and native JSON support for clinical metadata.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9624"/>
            <a:ext cx="52422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5935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69A1"/>
                </a:solidFill>
                <a:latin typeface="Segoe UI"/>
              </a:defRPr>
            </a:pPr>
            <a:r>
              <a:t>✔  Security: JWT + Bcrypt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Stateless authentication eliminating session lookup latency with slow 12-round salted password hashing.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0056"/>
            <a:ext cx="52422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2978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69A1"/>
                </a:solidFill>
                <a:latin typeface="Segoe UI"/>
              </a:defRPr>
            </a:pPr>
            <a:r>
              <a:t>✔  AI: Google Gemini 1.5 Flash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Large context window, multimodal clinical document understanding, fast inference, and medical terminology accuracy.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020056"/>
            <a:ext cx="52422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12978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69A1"/>
                </a:solidFill>
                <a:latin typeface="Segoe UI"/>
              </a:defRPr>
            </a:pPr>
            <a:r>
              <a:t>✔  Deployment: Vercel + Render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Edge CDN distribution for React assets and managed containerized cloud hosting for FastAPI and PostgreSQL.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CLINICAL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Patient &amp; Doctor Clinical Consultation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09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Patient Experience Pipeline: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1. Discovery &amp; Search: Search approved doctor directory by specialty, fee, experience.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2. Slot Booking: Select available doctor schedule slot and provide chief complaint.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3. Consultation Attended: Doctor reviews medical profile and conducts consultation.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4. Digital Prescription: View prescribed medications, dosage frequency &amp; instructions.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5. Diagnostic Reports: Access verified &amp; released lab reports directly on portal.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6. CareAI Interaction: Query AI Health Assistant for post-consultation health info.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Doctor Clinical Operations: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1. Credential Vetting: Register medical license &amp; bio; vetted &amp; approved by Admin.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2. Availability Scheduling: Set recurring weekly consultation windows and slot duration.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3. Patient Queue: Manage incoming appointments (Confirm / Complete / Cancel).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4. AI Drug Safety Check: Analyze drug-drug and drug-food interactions before issuing Rx.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5. Electronic Prescription: Issue signed multi-medication digital prescription to patient &amp; pharmacy.</a:t>
            </a:r>
          </a:p>
          <a:p>
            <a:pPr>
              <a:spcBef>
                <a:spcPts val="5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→ 6. Diagnostic Requisition: Order STAT or routine laboratory test panels for technician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DIAGNOSTIC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Diagnostic Laboratory Lifecycle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10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3154680" cy="4114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SAMPLE_PENDING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Doctor issues order requisition (STAT / Urgent / Routine). Test items accessioned in lab queue.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7992" y="1645920"/>
            <a:ext cx="315468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SAMPLE_COLLECTED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1488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Phlebotomist collects specimen. Rejection check for compromised draws (Hemolyzed/Clotted).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0876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47304" y="1645920"/>
            <a:ext cx="315468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IN_PROGRESS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21488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Specimen placed on analytical instruments. Technologist initiates biochemical 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931920"/>
            <a:ext cx="3154680" cy="41148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RESULTS_ENTERED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Quantitative analyte values recorded. Automated panic threshold alert checks triggered.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79476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07992" y="3931920"/>
            <a:ext cx="315468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5.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4348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Supervising technician audits findings against QC reference intervals and signs off.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379476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47304" y="3931920"/>
            <a:ext cx="31546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6. RELEASED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4348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Diagnostic report released to Patient Portal and ordering Doctor with immutable audit trail.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PHARMACY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Pharmacy Dispensary &amp; Fulfillment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11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228600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Stage 1: PRESCRIBED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Doctor issues digital prescription. Order enters dispensary queue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0876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93592" y="1645920"/>
            <a:ext cx="22860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Stage 2: UNDER_REVIEW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945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Pharmacist audits prescription items, dosage guidelines, and AI safety warnings.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0876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18504" y="1645920"/>
            <a:ext cx="2286000" cy="45720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Stage 3: READY FOR PICKUP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1945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Medications packaged; automated in-app pickup notification dispatched to Patient.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50876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43416" y="16459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Stage 4: DISPENSED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21945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 receives medication. Pharmacist signs off; dispensation timestamp permanently recorded.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10728655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3192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Key Clinical Safety &amp; Security Guardrails in Pharmacy Module: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Write-Isolation Barrier: Pharmacists CANNOT modify prescribed drug names, dosages, or physician diagnoses. They can only record pharmacist dispensing notes and advance fulfillment status.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Clinical Safety Visibility: Pharmacists inspect AI drug-drug and drug-food interaction reports generated during physician prescribing.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Multi-Role Notification Triggers: Advancing to READY alerts the Patient; confirming DISPENSED notifies both Patient and Prescribing Doctor.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Responsible AI Architecture &amp; Clinical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12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64592" cy="1051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Layer 1: Deterministic Emergency Triage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Incoming patient prompts scanned with regex/keyword rules for acute emergencies (chest pain, anaphylaxis, severe dyspnea). Instantly returns emergency helpline alerts without model latency.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79191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79191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70631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  <a:latin typeface="Segoe UI"/>
              </a:defRPr>
            </a:pPr>
            <a:r>
              <a:t>Layer 2: System Prompt &amp; PHI Guardrails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Role-aware prompt engineering constrains LLM output to evidence-based medical definitions, attaches legal medical disclaimers, and prevents PHI data leakage.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9624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9624"/>
            <a:ext cx="164592" cy="10515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41064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33EA"/>
                </a:solidFill>
                <a:latin typeface="Segoe UI"/>
              </a:defRPr>
            </a:pPr>
            <a:r>
              <a:t>Layer 3: Google Gemini 1.5 Flash API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Processes multi-turn health inquiries, multi-medication drug-drug interaction matrices, and patient medical document OCR analysis with high clinical terminology accuracy.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20056"/>
            <a:ext cx="16459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111496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Layer 4: Graceful Fault Tolerance (HTTP 503)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If Gemini API is unreachable or rate-limited, system catches AIProviderUnavailableError and returns HTTP 503 with structured retry advice. Core clinical EHR remains 100% operational.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SECURITY &amp;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Security, Authentication &amp; Data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13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4876495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🔒  Cryptographic Password Hashing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876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Passlib with Bcrypt algorithm (12 salt rounds) prevents rainbow table and GPU brute-force attacks. Passwords never stored in plaintext.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4876495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🔒  Stateless JWT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76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Tokens signed with HMAC-SHA256 (HS256) containing sub (email), user ID, and role claims. Eliminates database session lookup latency.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977640"/>
            <a:ext cx="4876495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9333EA"/>
                </a:solidFill>
                <a:latin typeface="Segoe UI"/>
              </a:defRPr>
            </a:pPr>
            <a:r>
              <a:t>🔒  Role-Based Access Control (RBAC)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876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FastAPI dependency guards (require_role, require_roles) enforce strict access boundaries at the API gateway layer.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3977640"/>
            <a:ext cx="4876495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🔒  Protected Health Info (PHI) Barrier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4876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Admins manage platform users but are strictly forbidden (HTTP 403) from accessing or downloading patient medical documents.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Relational Database Design &amp; Entity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14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429000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Identity &amp;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users (Base credentials &amp; roles)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patient_profiles (Clinical demographics)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doctor_profiles (Specialty &amp; approvals)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342900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Consultations &amp; Scheduling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0116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doctor_availabilities (Weekly slots)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doctor_unavailable_dates (Vacations)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appointments (Booking lifecycle)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0876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508760"/>
            <a:ext cx="3429000" cy="4114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Prescriptions &amp;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20116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prescriptions (Status &amp; diagnosis)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prescription_items (Drug dosage/route)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ai_reports (Drug interaction findings)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79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79"/>
            <a:ext cx="34290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Laboratory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399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lab_tests (Standard catalog)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lab_orders &amp; lab_order_items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lab_samples, lab_results, lab_audit_events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840479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3840479"/>
            <a:ext cx="34290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Documents &amp;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343399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medical_documents (Patient uploads)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medical_document_analyses (OCR summaries)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ai_conversations &amp; ai_messages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3840479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3840479"/>
            <a:ext cx="3429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Platform Communications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343399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notifications (In-app multi-role alerts)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Integrity: Foreign Keys &amp; Cascades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Alembic Version-Controlled Migrations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FEATURE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CareAI Core Platform Feature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15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18488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Multi-Role Authentication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Seamless login, JWT issuance, and auto-redirection to role-tailored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618488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Doctor Vetting &amp; Approval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Admin approval gate before doctor profiles become bookable in public directory.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618488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Dynamic Slot Scheduling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Recurring weekly availability and ad-hoc unavailable date blocking.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3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72967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Digital Prescription Issuance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Structured multi-item prescriptions with dosage, frequency, and instructions.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306323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172967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AI Drug Interaction Screening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Multi-drug and drug-food safety analysis with risk severity classifications.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306323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3172967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Diagnostic Lab Custody Chain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6-stage lab order lifecycle with specimen rejection and critical panic flags.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177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27448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Pharmacy Fulfillment Tracking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Prescription status pipeline from review to ready-for-pickup and dispensation.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46177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4727448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Medical Document Vault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Secure upload of patient documents with automated OCR and clinical summaries.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46177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4" y="4727448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AI Health Assistant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Context-aware conversational assistant with emergency symptom triage filters.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QUALITY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Automated 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16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114800" cy="4663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  <a:latin typeface="Segoe UI"/>
              </a:defRPr>
            </a:pPr>
            <a:r>
              <a:t>165 / 165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AUTOMATED PYTEST TESTS PASSED</a:t>
            </a:r>
          </a:p>
          <a:p>
            <a:pPr algn="ctr">
              <a:spcBef>
                <a:spcPts val="10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100% Pass Rate across all unit, integration, RBAC security, and cross-role workflow test suites in ~6.8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508760"/>
            <a:ext cx="633953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581912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Auth &amp; RBAC Isolation Tests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Verifies JWT issuance, password hashing, and role access barriers (e.g. Admin PHI blocking).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441448"/>
            <a:ext cx="633953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5146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Clinical Appointment &amp; Availability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Tests doctor weekly availability slot generation, conflict detection, and booking state transitions.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374136"/>
            <a:ext cx="633953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447288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Prescription &amp; Pharmacy Lifecycle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Verifies multi-item Rx drafting, AI report attachment, and dispensary progression.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4306824"/>
            <a:ext cx="633953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4379976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Lab Diagnostic Chain-of-Custody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Validates sample collection, rejection criteria, panic threshold flagging, and verification signoff.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5239512"/>
            <a:ext cx="633953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5312664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Segoe UI"/>
              </a:defRPr>
            </a:pPr>
            <a:r>
              <a:t>✔ AI Safety Triage &amp; Fault Handling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Tests deterministic emergency triage triggers and graceful HTTP 503 fallback handling.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DEVOPS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Production Cloud 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17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429000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Frontend Deployment: Vercel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React 18 / Vite SPA  •  Global Edge CDN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Continuous deployment from GitHub main branch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Automatic SSL/TLS termination and HTTP/2 acceleration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Sub-second asset distribution across edge nodes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SPA rewrites for react-router-dom deep linking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3429000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Backend Deployment: Render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FastAPI ASGI  •  Python 3.12 Uvicorn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7744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Containerized Python runtime with gunicorn/uvicorn workers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Automated Alembic database migration execution on build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Environment variable injection for secret key &amp; Gemini API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Automatic health check endpoint monitoring (/api/v1/health)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0876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508760"/>
            <a:ext cx="34290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Database: Managed PostgreSQL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Render Managed PostgreSQL  •  ACID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237744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Production relational database with SSL connection strings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Automated nightly backups and point-in-time recovery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Full support for native JSON / JSONB data types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Enforced Foreign Key constraints and indexing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Summary of Project Results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18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✔ Full-Stack 5-Role Platform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Delivered complete healthcare SaaS with 5 dedicated user portals, responsive glassmorphic UI, and full REST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✔ 165/165 Automated Tests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Achieved 100% test pass rate across auth, appointments, prescriptions, diagnostic workflows, and AI safety.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39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399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✔ Automated Alembic Migrations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Established clean, repeatable schema versioning across 21 relational database tables.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39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00399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✔ Responsible AI Implementation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Implemented drug-drug interaction checks, symptom triage emergency filters, and graceful 503 offline fallback.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✔ Production Cloud Deployment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Deployed on Vercel (Frontend) and Render (Backend + PostgreSQL) with live HTTPS endpoints.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617720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369A1"/>
                </a:solidFill>
                <a:latin typeface="Segoe UI"/>
              </a:defRPr>
            </a:pPr>
            <a:r>
              <a:t>✔ Verified Seed Demo Dataset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Configured idempotent seed script creating realistic clinical scenarios across all 5 roles.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SYSTEM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Honest Analysis of Current System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19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64592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8191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Clinical Decision Boundary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CareAI is an assistive management and clinical support prototype. It is NOT a certified Class II Software as a Medical Device (SaMD) and does not replace certified physician diagnosis.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41448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41448"/>
            <a:ext cx="164592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146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Notification Transport Mechanism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Notifications are currently stored and queried via relational database polling. Real-time WebSockets, push notifications (FCM/APNs), and SMS/Email gateways (Twilio/SendGrid) are not yet integrated.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74136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74136"/>
            <a:ext cx="164592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4728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File Storage Architecture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Document uploads are handled via local filesystem storage service. Enterprise production requires cloud object storage (AWS S3 / GCP GCS) with presigned URLs and malware scanning.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06824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306824"/>
            <a:ext cx="164592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9976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Pharmacy Live Stock Decrementing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The pharmacy module tracks fulfillment lifecycle status progression, but does not maintain a live inventory count table that automatically decrements physical pill counts upon dispensing.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3951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239512"/>
            <a:ext cx="164592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12664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Database Tenancy Model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Operates on a unified database with logical row-level tenant separation. Does not implement physical schema-per-hospital isolation for enterprise hospital networks.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Future Scope &amp; 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20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56032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1: Real-Time Tele-Health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WebSockets &amp; WebRTC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2331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Bidirectional WebSockets for instantaneous real-time notifications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WebRTC peer-to-peer encrypted video rooms for virtual tele-consultations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In-app real-time doctor-patient messaging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0876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508760"/>
            <a:ext cx="256032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2: Interoperability &amp; Standards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FHIR / HL7 &amp; DICOM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31720"/>
            <a:ext cx="2331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Fast Healthcare Interoperability Resources (FHIR) standard JSON APIs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HL7 interface for legacy Hospital Information System (HIS) integration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Web-based DICOM medical radiographic image viewer (X-Ray/CT/MRI)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0876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508760"/>
            <a:ext cx="2560320" cy="7315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3: Mobile &amp; Inventory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React Native &amp; Barcodes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331720"/>
            <a:ext cx="2331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Cross-platform React Native iOS and Android mobile applications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Live pharmacy stock inventory tracking with automatic decrementing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Barcode / QR code medication scanning during dispensation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50876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508760"/>
            <a:ext cx="25603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4: Advanced Edge AI</a:t>
            </a:r>
          </a:p>
          <a:p>
            <a:pPr algn="ctr">
              <a:defRPr sz="850">
                <a:solidFill>
                  <a:srgbClr val="CBD5E1"/>
                </a:solidFill>
                <a:latin typeface="Segoe UI"/>
              </a:defRPr>
            </a:pPr>
            <a:r>
              <a:t>On-Premise LLM &amp;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331720"/>
            <a:ext cx="2331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Embedded on-premise local clinical LLM (e.g. BioMistral via ONNX)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Third-party HIPAA &amp; GDPR security compliance certification audit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Automated clinical coding (ICD-10 / CPT billing code recommendations)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CAREAI PLATFORM  |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Conclusion &amp; Technical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21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CareAI: AI-Powered Healthcare Management SaaS Platform  •  Final Year Project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Key Takeaways from CareAI Development: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✔ Unified Healthcare Experience: Successfully eliminated fragmented paper processes by combining appointments, digital prescriptions, laboratory chain-of-custody, and pharmacy fulfillment into a single reactive SaaS platform.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✔ Strict Role-Based Security Architecture: Implemented enterprise RBAC across 5 roles with protected health information (PHI) barriers, ensuring data confidentiality and clinical custody compliance.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✔ Responsible &amp; Guardrailed AI: Demonstrated that Generative AI (Google Gemini) can be integrated responsibly into healthcare systems with deterministic emergency triage, prompt guardrails, and graceful offline fallback.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✔ Rigorous Software Engineering: Achieved 100% automated test pass rate (165/165 tests) with full cloud deployment on Vercel and Render backed by PostgreSQL.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✔ Solid Foundation for Future Expansion: Provides a modular, extensible architecture ready for real-time WebSockets, WebRTC video consultations, and FHIR/HL7 hospital interoperability.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200">
                <a:solidFill>
                  <a:srgbClr val="0284C7"/>
                </a:solidFill>
                <a:latin typeface="Segoe UI"/>
              </a:defRPr>
            </a:pPr>
            <a:r>
              <a:t>Questions &amp; Technical Discussion</a:t>
            </a:r>
          </a:p>
          <a:p>
            <a:pPr algn="ctr">
              <a:spcBef>
                <a:spcPts val="16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CareAI: AI-Powered Healthcare Management SaaS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4206240"/>
            <a:ext cx="7406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GitHub Repository: https://github.com/Niharika212006/CareAI-SaaS</a:t>
            </a:r>
          </a:p>
          <a:p>
            <a:pPr algn="ctr">
              <a:spcBef>
                <a:spcPts val="600"/>
              </a:spcBef>
              <a:defRPr sz="1050">
                <a:solidFill>
                  <a:srgbClr val="0284C7"/>
                </a:solidFill>
                <a:latin typeface="Segoe UI"/>
              </a:defRPr>
            </a:pPr>
            <a:r>
              <a:t>Frontend: Vercel Deployment  •  Backend &amp; DB: Render Cloud (FastAPI + PostgreSQL)</a:t>
            </a:r>
          </a:p>
          <a:p>
            <a:pPr algn="ctr">
              <a:spcBef>
                <a:spcPts val="400"/>
              </a:spcBef>
              <a:defRPr sz="1000">
                <a:solidFill>
                  <a:srgbClr val="10B981"/>
                </a:solidFill>
                <a:latin typeface="Segoe UI"/>
              </a:defRPr>
            </a:pPr>
            <a:r>
              <a:t>Automated Test Suite: 165/165 Passing  •  Role Fidelity: 5 User Roles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